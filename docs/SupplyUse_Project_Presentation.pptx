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7" r:id="rId2"/>
    <p:sldId id="432" r:id="rId3"/>
    <p:sldId id="431" r:id="rId4"/>
    <p:sldId id="437" r:id="rId5"/>
    <p:sldId id="438" r:id="rId6"/>
    <p:sldId id="439" r:id="rId7"/>
    <p:sldId id="440" r:id="rId8"/>
    <p:sldId id="441" r:id="rId9"/>
    <p:sldId id="442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27" autoAdjust="0"/>
    <p:restoredTop sz="94660"/>
  </p:normalViewPr>
  <p:slideViewPr>
    <p:cSldViewPr snapToGrid="0">
      <p:cViewPr varScale="1">
        <p:scale>
          <a:sx n="96" d="100"/>
          <a:sy n="96" d="100"/>
        </p:scale>
        <p:origin x="60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" y="0"/>
            <a:ext cx="121893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04520" y="872981"/>
            <a:ext cx="5097153" cy="177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62477" y="2828564"/>
            <a:ext cx="4700649" cy="60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/>
          <p:nvPr/>
        </p:nvSpPr>
        <p:spPr>
          <a:xfrm>
            <a:off x="462477" y="3754510"/>
            <a:ext cx="4700649" cy="60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" y="0"/>
            <a:ext cx="121893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ctrTitle"/>
          </p:nvPr>
        </p:nvSpPr>
        <p:spPr>
          <a:xfrm>
            <a:off x="675575" y="2280335"/>
            <a:ext cx="5097153" cy="177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  <a:defRPr sz="8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/>
          <p:nvPr/>
        </p:nvSpPr>
        <p:spPr>
          <a:xfrm>
            <a:off x="462477" y="3754510"/>
            <a:ext cx="4700649" cy="60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" y="0"/>
            <a:ext cx="121893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8200" y="665018"/>
            <a:ext cx="10515600" cy="102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87182" cy="4094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20" y="-1"/>
            <a:ext cx="12190680" cy="685874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838200" y="600364"/>
            <a:ext cx="10515600" cy="109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020849" y="-1357024"/>
            <a:ext cx="4150302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526473"/>
            <a:ext cx="10515600" cy="116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7546965" y="2755236"/>
            <a:ext cx="4323027" cy="2196547"/>
            <a:chOff x="9053984" y="1699317"/>
            <a:chExt cx="3190929" cy="1800713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4501" b="89667" l="68896" r="97214">
                          <a14:foregroundMark x1="86018" y1="75306" x2="85461" y2="59895"/>
                          <a14:foregroundMark x1="91895" y1="60245" x2="92401" y2="74781"/>
                          <a14:foregroundMark x1="91895" y1="85814" x2="88349" y2="78809"/>
                          <a14:foregroundMark x1="85258" y1="86165" x2="89767" y2="86165"/>
                          <a14:foregroundMark x1="85917" y1="83888" x2="88197" y2="80210"/>
                          <a14:foregroundMark x1="85562" y1="83713" x2="87893" y2="77933"/>
                          <a14:foregroundMark x1="76798" y1="86865" x2="75785" y2="77233"/>
                          <a14:foregroundMark x1="76900" y1="83187" x2="77052" y2="80385"/>
                          <a14:foregroundMark x1="74671" y1="80911" x2="74772" y2="81436"/>
                          <a14:foregroundMark x1="83384" y1="63398" x2="83384" y2="63398"/>
                          <a14:foregroundMark x1="83789" y1="67776" x2="83789" y2="69002"/>
                          <a14:foregroundMark x1="90426" y1="67250" x2="90476" y2="69177"/>
                          <a14:foregroundMark x1="71530" y1="54641" x2="71631" y2="56392"/>
                          <a14:foregroundMark x1="87791" y1="76708" x2="91033" y2="76532"/>
                          <a14:foregroundMark x1="87538" y1="76708" x2="86424" y2="80736"/>
                          <a14:foregroundMark x1="74367" y1="88091" x2="74924" y2="82487"/>
                          <a14:foregroundMark x1="82827" y1="38179" x2="83789" y2="40105"/>
                          <a14:backgroundMark x1="83587" y1="65324" x2="83587" y2="65324"/>
                          <a14:backgroundMark x1="79129" y1="51138" x2="79129" y2="51138"/>
                          <a14:backgroundMark x1="78065" y1="51664" x2="80243" y2="49037"/>
                          <a14:backgroundMark x1="84043" y1="51839" x2="86474" y2="53940"/>
                          <a14:backgroundMark x1="85461" y1="47285" x2="85765" y2="50263"/>
                          <a14:backgroundMark x1="83587" y1="49737" x2="83688" y2="58844"/>
                          <a14:backgroundMark x1="89970" y1="69177" x2="89919" y2="62872"/>
                          <a14:backgroundMark x1="93617" y1="68301" x2="93870" y2="65324"/>
                          <a14:backgroundMark x1="87893" y1="61121" x2="85258" y2="54291"/>
                          <a14:backgroundMark x1="90578" y1="56743" x2="90578" y2="57443"/>
                          <a14:backgroundMark x1="77356" y1="51664" x2="77558" y2="50263"/>
                          <a14:backgroundMark x1="77558" y1="47461" x2="76950" y2="49562"/>
                          <a14:backgroundMark x1="80648" y1="65849" x2="80648" y2="69002"/>
                          <a14:backgroundMark x1="80395" y1="57443" x2="80446" y2="760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493" t="34114" r="3638" b="23955"/>
            <a:stretch/>
          </p:blipFill>
          <p:spPr>
            <a:xfrm>
              <a:off x="9395138" y="1699317"/>
              <a:ext cx="2849775" cy="151146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4501" b="89667" l="68896" r="97214">
                          <a14:foregroundMark x1="86018" y1="75306" x2="85461" y2="59895"/>
                          <a14:foregroundMark x1="91895" y1="60245" x2="92401" y2="74781"/>
                          <a14:foregroundMark x1="91895" y1="85814" x2="88349" y2="78809"/>
                          <a14:foregroundMark x1="85258" y1="86165" x2="89767" y2="86165"/>
                          <a14:foregroundMark x1="85917" y1="83888" x2="88197" y2="80210"/>
                          <a14:foregroundMark x1="85562" y1="83713" x2="87893" y2="77933"/>
                          <a14:foregroundMark x1="76798" y1="86865" x2="75785" y2="77233"/>
                          <a14:foregroundMark x1="76900" y1="83187" x2="77052" y2="80385"/>
                          <a14:foregroundMark x1="74671" y1="80911" x2="74772" y2="81436"/>
                          <a14:foregroundMark x1="83384" y1="63398" x2="83384" y2="63398"/>
                          <a14:foregroundMark x1="83789" y1="67776" x2="83789" y2="69002"/>
                          <a14:foregroundMark x1="90426" y1="67250" x2="90476" y2="69177"/>
                          <a14:foregroundMark x1="71530" y1="54641" x2="71631" y2="56392"/>
                          <a14:foregroundMark x1="87791" y1="76708" x2="91033" y2="76532"/>
                          <a14:foregroundMark x1="87538" y1="76708" x2="86424" y2="80736"/>
                          <a14:foregroundMark x1="74367" y1="88091" x2="74924" y2="82487"/>
                          <a14:foregroundMark x1="82827" y1="38179" x2="83789" y2="40105"/>
                          <a14:backgroundMark x1="83587" y1="65324" x2="83587" y2="65324"/>
                          <a14:backgroundMark x1="79129" y1="51138" x2="79129" y2="51138"/>
                          <a14:backgroundMark x1="78065" y1="51664" x2="80243" y2="49037"/>
                          <a14:backgroundMark x1="84043" y1="51839" x2="86474" y2="53940"/>
                          <a14:backgroundMark x1="85461" y1="47285" x2="85765" y2="50263"/>
                          <a14:backgroundMark x1="83587" y1="49737" x2="83688" y2="58844"/>
                          <a14:backgroundMark x1="89970" y1="69177" x2="89919" y2="62872"/>
                          <a14:backgroundMark x1="93617" y1="68301" x2="93870" y2="65324"/>
                          <a14:backgroundMark x1="87893" y1="61121" x2="85258" y2="54291"/>
                          <a14:backgroundMark x1="90578" y1="56743" x2="90578" y2="57443"/>
                          <a14:backgroundMark x1="77356" y1="51664" x2="77558" y2="50263"/>
                          <a14:backgroundMark x1="77558" y1="47461" x2="76950" y2="49562"/>
                          <a14:backgroundMark x1="80648" y1="65849" x2="80648" y2="69002"/>
                          <a14:backgroundMark x1="80395" y1="57443" x2="80446" y2="760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338" t="48392" r="19156" b="23955"/>
            <a:stretch/>
          </p:blipFill>
          <p:spPr>
            <a:xfrm flipH="1">
              <a:off x="9053984" y="2496896"/>
              <a:ext cx="312265" cy="1003134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180DA1B-DA20-5BD9-8A6B-FD1E2F7E0108}"/>
              </a:ext>
            </a:extLst>
          </p:cNvPr>
          <p:cNvSpPr/>
          <p:nvPr/>
        </p:nvSpPr>
        <p:spPr>
          <a:xfrm>
            <a:off x="4477580" y="280099"/>
            <a:ext cx="633119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Agentic AI Hackathon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96A6BA-DD09-B3A9-DD96-8058D82A8A0C}"/>
              </a:ext>
            </a:extLst>
          </p:cNvPr>
          <p:cNvSpPr/>
          <p:nvPr/>
        </p:nvSpPr>
        <p:spPr>
          <a:xfrm>
            <a:off x="3749260" y="870311"/>
            <a:ext cx="590660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SupplyUse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Stock Management System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39FEAE-5B64-C75F-A998-DB1A86F31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51" y="1515941"/>
            <a:ext cx="7118567" cy="4745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7F61-0AF9-50AF-E288-146EE327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865" y="856559"/>
            <a:ext cx="10587182" cy="4094884"/>
          </a:xfrm>
        </p:spPr>
        <p:txBody>
          <a:bodyPr/>
          <a:lstStyle/>
          <a:p>
            <a:pPr marL="114300" indent="0">
              <a:buNone/>
            </a:pPr>
            <a:r>
              <a:rPr lang="en-US" sz="2000" dirty="0"/>
              <a:t>🎯 </a:t>
            </a:r>
            <a:r>
              <a:rPr lang="th-TH" sz="2000" dirty="0"/>
              <a:t>วัตถุประสงค์</a:t>
            </a:r>
          </a:p>
          <a:p>
            <a:pPr lvl="1"/>
            <a:r>
              <a:rPr lang="th-TH" sz="1600" dirty="0"/>
              <a:t>จัดการสต๊อกสินค้าอย่างมีประสิทธิภาพ</a:t>
            </a:r>
          </a:p>
          <a:p>
            <a:pPr lvl="1"/>
            <a:r>
              <a:rPr lang="th-TH" sz="1600" dirty="0"/>
              <a:t>ติดตามการเคลื่อนไหวสินค้าเข้า-ออก</a:t>
            </a:r>
          </a:p>
          <a:p>
            <a:pPr lvl="1"/>
            <a:r>
              <a:rPr lang="th-TH" sz="1600" dirty="0"/>
              <a:t>สร้างรายงานและสถิติการใช้งาน</a:t>
            </a:r>
          </a:p>
          <a:p>
            <a:pPr lvl="1"/>
            <a:r>
              <a:rPr lang="th-TH" sz="1600" dirty="0"/>
              <a:t>รองรับการสแกนบาร์โค้ดและค้นหาด้วยภาพ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2FE262-DE22-2BD4-4392-7096173EAFE4}"/>
              </a:ext>
            </a:extLst>
          </p:cNvPr>
          <p:cNvSpPr txBox="1"/>
          <p:nvPr/>
        </p:nvSpPr>
        <p:spPr>
          <a:xfrm>
            <a:off x="36620" y="39925"/>
            <a:ext cx="12155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th-TH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anose="02020603050405020304" pitchFamily="18" charset="-34"/>
                <a:cs typeface="AngsanaUPC" panose="02020603050405020304" pitchFamily="18" charset="-34"/>
              </a:rPr>
              <a:t>ภาพรวมโปรเจ</a:t>
            </a:r>
            <a:r>
              <a:rPr lang="th-TH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anose="02020603050405020304" pitchFamily="18" charset="-34"/>
                <a:cs typeface="AngsanaUPC" panose="02020603050405020304" pitchFamily="18" charset="-34"/>
              </a:rPr>
              <a:t>็ค</a:t>
            </a:r>
            <a:endParaRPr lang="th-TH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9417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7F61-0AF9-50AF-E288-146EE327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718" y="786986"/>
            <a:ext cx="10587182" cy="4094884"/>
          </a:xfrm>
        </p:spPr>
        <p:txBody>
          <a:bodyPr/>
          <a:lstStyle/>
          <a:p>
            <a:pPr marL="114300" indent="0">
              <a:buNone/>
            </a:pPr>
            <a:r>
              <a:rPr lang="th-TH" sz="2000" b="1" dirty="0"/>
              <a:t>เทคโนโลยีที่ใช้</a:t>
            </a:r>
          </a:p>
          <a:p>
            <a:r>
              <a:rPr lang="en-US" sz="2000" dirty="0"/>
              <a:t>Backend: Python Flask</a:t>
            </a:r>
          </a:p>
          <a:p>
            <a:r>
              <a:rPr lang="en-US" sz="2000" dirty="0"/>
              <a:t>Database: SQLite</a:t>
            </a:r>
          </a:p>
          <a:p>
            <a:r>
              <a:rPr lang="en-US" sz="2000" dirty="0"/>
              <a:t>Frontend: HTML, CSS, JavaScript</a:t>
            </a:r>
          </a:p>
          <a:p>
            <a:r>
              <a:rPr lang="en-US" sz="2000" dirty="0"/>
              <a:t>UI Framework: Bootstrap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th-TH" sz="2000" b="1" dirty="0"/>
              <a:t>โครงสร้างฐานข้อมูล</a:t>
            </a:r>
          </a:p>
          <a:p>
            <a:r>
              <a:rPr lang="en-US" sz="2000" dirty="0"/>
              <a:t>products: </a:t>
            </a:r>
            <a:r>
              <a:rPr lang="th-TH" sz="2000" dirty="0"/>
              <a:t>สินค้า</a:t>
            </a:r>
          </a:p>
          <a:p>
            <a:r>
              <a:rPr lang="en-US" sz="2000" dirty="0" err="1"/>
              <a:t>stock_movements</a:t>
            </a:r>
            <a:r>
              <a:rPr lang="en-US" sz="2000" dirty="0"/>
              <a:t>: </a:t>
            </a:r>
            <a:r>
              <a:rPr lang="th-TH" sz="2000" dirty="0"/>
              <a:t>การเคลื่อนไหว</a:t>
            </a:r>
          </a:p>
          <a:p>
            <a:r>
              <a:rPr lang="en-US" sz="2000" dirty="0"/>
              <a:t>users: </a:t>
            </a:r>
            <a:r>
              <a:rPr lang="th-TH" sz="2000" dirty="0"/>
              <a:t>ผู้ใช้งาน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E57E5-7B28-1CFE-BAAE-A15EB0CC98D1}"/>
              </a:ext>
            </a:extLst>
          </p:cNvPr>
          <p:cNvSpPr txBox="1"/>
          <p:nvPr/>
        </p:nvSpPr>
        <p:spPr>
          <a:xfrm>
            <a:off x="36620" y="39925"/>
            <a:ext cx="12155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th-TH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anose="02020603050405020304" pitchFamily="18" charset="-34"/>
                <a:cs typeface="AngsanaUPC" panose="02020603050405020304" pitchFamily="18" charset="-34"/>
              </a:rPr>
              <a:t>สถาปัตยกรรมระบบ</a:t>
            </a:r>
          </a:p>
        </p:txBody>
      </p:sp>
    </p:spTree>
    <p:extLst>
      <p:ext uri="{BB962C8B-B14F-4D97-AF65-F5344CB8AC3E}">
        <p14:creationId xmlns:p14="http://schemas.microsoft.com/office/powerpoint/2010/main" val="394239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7F61-0AF9-50AF-E288-146EE327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718" y="786986"/>
            <a:ext cx="10587182" cy="4094884"/>
          </a:xfrm>
        </p:spPr>
        <p:txBody>
          <a:bodyPr/>
          <a:lstStyle/>
          <a:p>
            <a:pPr marL="114300" indent="0">
              <a:buNone/>
            </a:pPr>
            <a:r>
              <a:rPr lang="th-TH" sz="2000" dirty="0"/>
              <a:t>📦 </a:t>
            </a:r>
            <a:r>
              <a:rPr lang="th-TH" sz="2000" b="1" dirty="0"/>
              <a:t>จัดการสินค้า</a:t>
            </a:r>
          </a:p>
          <a:p>
            <a:pPr lvl="1"/>
            <a:r>
              <a:rPr lang="th-TH" sz="1600" dirty="0"/>
              <a:t>เพิ่ม/แก้ไข/ลบสินค้า</a:t>
            </a:r>
          </a:p>
          <a:p>
            <a:pPr lvl="1"/>
            <a:r>
              <a:rPr lang="th-TH" sz="1600" dirty="0" err="1"/>
              <a:t>อัพ</a:t>
            </a:r>
            <a:r>
              <a:rPr lang="th-TH" sz="1600" dirty="0"/>
              <a:t>โหลดรูปภาพสินค้า</a:t>
            </a:r>
          </a:p>
          <a:p>
            <a:pPr lvl="1"/>
            <a:r>
              <a:rPr lang="th-TH" sz="1600" dirty="0"/>
              <a:t>กำหนดสต๊อกขั้นต่ำ</a:t>
            </a:r>
          </a:p>
          <a:p>
            <a:endParaRPr lang="th-TH" sz="2000" dirty="0"/>
          </a:p>
          <a:p>
            <a:pPr marL="114300" indent="0">
              <a:buNone/>
            </a:pPr>
            <a:r>
              <a:rPr lang="th-TH" sz="2000" dirty="0"/>
              <a:t>📤 </a:t>
            </a:r>
            <a:r>
              <a:rPr lang="th-TH" sz="2000" b="1" dirty="0"/>
              <a:t>จัดการสต๊อก</a:t>
            </a:r>
          </a:p>
          <a:p>
            <a:pPr lvl="1"/>
            <a:r>
              <a:rPr lang="th-TH" sz="1600" dirty="0"/>
              <a:t>รับสินค้าเข้า (</a:t>
            </a:r>
            <a:r>
              <a:rPr lang="en-US" sz="1600" dirty="0"/>
              <a:t>Stock In)</a:t>
            </a:r>
          </a:p>
          <a:p>
            <a:pPr lvl="1"/>
            <a:r>
              <a:rPr lang="th-TH" sz="1600" dirty="0"/>
              <a:t>เบิกสินค้าออก (</a:t>
            </a:r>
            <a:r>
              <a:rPr lang="en-US" sz="1600" dirty="0"/>
              <a:t>Stock Out)</a:t>
            </a:r>
          </a:p>
          <a:p>
            <a:pPr lvl="1"/>
            <a:r>
              <a:rPr lang="th-TH" sz="1600" dirty="0"/>
              <a:t>ระบบเลขที่เอกสาร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E57E5-7B28-1CFE-BAAE-A15EB0CC98D1}"/>
              </a:ext>
            </a:extLst>
          </p:cNvPr>
          <p:cNvSpPr txBox="1"/>
          <p:nvPr/>
        </p:nvSpPr>
        <p:spPr>
          <a:xfrm>
            <a:off x="36620" y="39925"/>
            <a:ext cx="12155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th-TH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anose="02020603050405020304" pitchFamily="18" charset="-34"/>
                <a:cs typeface="AngsanaUPC" panose="02020603050405020304" pitchFamily="18" charset="-34"/>
              </a:rPr>
              <a:t>ฟีเจอร์หลัก</a:t>
            </a:r>
          </a:p>
        </p:txBody>
      </p:sp>
    </p:spTree>
    <p:extLst>
      <p:ext uri="{BB962C8B-B14F-4D97-AF65-F5344CB8AC3E}">
        <p14:creationId xmlns:p14="http://schemas.microsoft.com/office/powerpoint/2010/main" val="2729636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7F61-0AF9-50AF-E288-146EE327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718" y="786986"/>
            <a:ext cx="10587182" cy="4094884"/>
          </a:xfrm>
        </p:spPr>
        <p:txBody>
          <a:bodyPr/>
          <a:lstStyle/>
          <a:p>
            <a:pPr marL="114300" indent="0">
              <a:buNone/>
            </a:pPr>
            <a:r>
              <a:rPr lang="th-TH" sz="2000" b="1" dirty="0"/>
              <a:t>ความต้องการระบบ</a:t>
            </a:r>
          </a:p>
          <a:p>
            <a:pPr lvl="1"/>
            <a:r>
              <a:rPr lang="en-US" sz="1600" dirty="0"/>
              <a:t>Python 3.7+</a:t>
            </a:r>
          </a:p>
          <a:p>
            <a:pPr lvl="1"/>
            <a:r>
              <a:rPr lang="en-US" sz="1600" dirty="0"/>
              <a:t>Flask </a:t>
            </a:r>
            <a:r>
              <a:rPr lang="th-TH" sz="1600" dirty="0"/>
              <a:t>และ </a:t>
            </a:r>
            <a:r>
              <a:rPr lang="en-US" sz="1600" dirty="0"/>
              <a:t>dependencies</a:t>
            </a:r>
          </a:p>
          <a:p>
            <a:pPr lvl="1"/>
            <a:r>
              <a:rPr lang="th-TH" sz="1600" dirty="0"/>
              <a:t>เว็บ</a:t>
            </a:r>
            <a:r>
              <a:rPr lang="th-TH" sz="1600" dirty="0" err="1"/>
              <a:t>เบ</a:t>
            </a:r>
            <a:r>
              <a:rPr lang="th-TH" sz="1600" dirty="0"/>
              <a:t>ราว์เซอร์ที่รองรับ </a:t>
            </a:r>
            <a:r>
              <a:rPr lang="en-US" sz="1600" dirty="0"/>
              <a:t>HTML5</a:t>
            </a:r>
          </a:p>
          <a:p>
            <a:endParaRPr lang="en-US" sz="2000" dirty="0"/>
          </a:p>
          <a:p>
            <a:r>
              <a:rPr lang="th-TH" sz="2000" b="1" dirty="0"/>
              <a:t>ขั้นตอนการติดตั้ง</a:t>
            </a:r>
          </a:p>
          <a:p>
            <a:pPr marL="114300" indent="0">
              <a:buNone/>
            </a:pPr>
            <a:r>
              <a:rPr lang="en-US" sz="2000" dirty="0"/>
              <a:t>	</a:t>
            </a:r>
            <a:r>
              <a:rPr lang="th-TH" sz="2000" dirty="0"/>
              <a:t>1. </a:t>
            </a:r>
            <a:r>
              <a:rPr lang="en-US" sz="2000" dirty="0"/>
              <a:t>git clone [repository-</a:t>
            </a:r>
            <a:r>
              <a:rPr lang="en-US" sz="2000" dirty="0" err="1"/>
              <a:t>url</a:t>
            </a:r>
            <a:r>
              <a:rPr lang="en-US" sz="2000" dirty="0"/>
              <a:t>]</a:t>
            </a:r>
          </a:p>
          <a:p>
            <a:pPr marL="114300" indent="0">
              <a:buNone/>
            </a:pPr>
            <a:r>
              <a:rPr lang="en-US" sz="2000" dirty="0"/>
              <a:t>	2. pip install -r requirements.txt</a:t>
            </a:r>
          </a:p>
          <a:p>
            <a:pPr marL="114300" indent="0">
              <a:buNone/>
            </a:pPr>
            <a:r>
              <a:rPr lang="en-US" sz="2000" dirty="0"/>
              <a:t>	3. python app.py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E57E5-7B28-1CFE-BAAE-A15EB0CC98D1}"/>
              </a:ext>
            </a:extLst>
          </p:cNvPr>
          <p:cNvSpPr txBox="1"/>
          <p:nvPr/>
        </p:nvSpPr>
        <p:spPr>
          <a:xfrm>
            <a:off x="36620" y="39925"/>
            <a:ext cx="12155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th-TH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anose="02020603050405020304" pitchFamily="18" charset="-34"/>
                <a:cs typeface="AngsanaUPC" panose="02020603050405020304" pitchFamily="18" charset="-34"/>
              </a:rPr>
              <a:t>การติดตั้งและใช้งาน</a:t>
            </a:r>
          </a:p>
        </p:txBody>
      </p:sp>
    </p:spTree>
    <p:extLst>
      <p:ext uri="{BB962C8B-B14F-4D97-AF65-F5344CB8AC3E}">
        <p14:creationId xmlns:p14="http://schemas.microsoft.com/office/powerpoint/2010/main" val="1454209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7F61-0AF9-50AF-E288-146EE327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718" y="786986"/>
            <a:ext cx="10587182" cy="4094884"/>
          </a:xfrm>
        </p:spPr>
        <p:txBody>
          <a:bodyPr/>
          <a:lstStyle/>
          <a:p>
            <a:pPr marL="114300" indent="0">
              <a:buNone/>
            </a:pPr>
            <a:r>
              <a:rPr lang="th-TH" sz="2000" b="1" dirty="0"/>
              <a:t>ประสิทธิภาพ</a:t>
            </a:r>
          </a:p>
          <a:p>
            <a:pPr lvl="1"/>
            <a:r>
              <a:rPr lang="th-TH" sz="1600" dirty="0"/>
              <a:t>ลดเวลาการจัดการสต๊อก 70%</a:t>
            </a:r>
          </a:p>
          <a:p>
            <a:pPr lvl="1"/>
            <a:r>
              <a:rPr lang="th-TH" sz="1600" dirty="0"/>
              <a:t>ความแม่นยำในการนับสต๊อก 95%+</a:t>
            </a:r>
          </a:p>
          <a:p>
            <a:pPr lvl="1"/>
            <a:r>
              <a:rPr lang="th-TH" sz="1600" dirty="0"/>
              <a:t>ลดการสูญหายของสินค้า</a:t>
            </a:r>
          </a:p>
          <a:p>
            <a:endParaRPr lang="th-TH" sz="2000" dirty="0"/>
          </a:p>
          <a:p>
            <a:pPr marL="114300" indent="0">
              <a:buNone/>
            </a:pPr>
            <a:r>
              <a:rPr lang="th-TH" sz="2000" b="1" dirty="0"/>
              <a:t>ความสะดวก</a:t>
            </a:r>
          </a:p>
          <a:p>
            <a:pPr lvl="1"/>
            <a:r>
              <a:rPr lang="th-TH" sz="1600" dirty="0"/>
              <a:t>เข้าถึงได้ทุกที่ผ่านเว็บ</a:t>
            </a:r>
          </a:p>
          <a:p>
            <a:pPr lvl="1"/>
            <a:r>
              <a:rPr lang="th-TH" sz="1600" dirty="0"/>
              <a:t>ใช้งานง่าย </a:t>
            </a:r>
            <a:r>
              <a:rPr lang="en-US" sz="1600" dirty="0"/>
              <a:t>UI/UX </a:t>
            </a:r>
            <a:r>
              <a:rPr lang="th-TH" sz="1600" dirty="0"/>
              <a:t>ที่เป็นมิตร</a:t>
            </a:r>
          </a:p>
          <a:p>
            <a:pPr lvl="1"/>
            <a:r>
              <a:rPr lang="th-TH" sz="1600" dirty="0"/>
              <a:t>รายงานแบบ </a:t>
            </a:r>
            <a:r>
              <a:rPr lang="en-US" sz="1600" dirty="0"/>
              <a:t>Real-time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E57E5-7B28-1CFE-BAAE-A15EB0CC98D1}"/>
              </a:ext>
            </a:extLst>
          </p:cNvPr>
          <p:cNvSpPr txBox="1"/>
          <p:nvPr/>
        </p:nvSpPr>
        <p:spPr>
          <a:xfrm>
            <a:off x="36621" y="0"/>
            <a:ext cx="12155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th-TH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anose="02020603050405020304" pitchFamily="18" charset="-34"/>
                <a:cs typeface="AngsanaUPC" panose="02020603050405020304" pitchFamily="18" charset="-34"/>
              </a:rPr>
              <a:t>ผลลัพธ์และประโยชน์</a:t>
            </a:r>
          </a:p>
        </p:txBody>
      </p:sp>
    </p:spTree>
    <p:extLst>
      <p:ext uri="{BB962C8B-B14F-4D97-AF65-F5344CB8AC3E}">
        <p14:creationId xmlns:p14="http://schemas.microsoft.com/office/powerpoint/2010/main" val="1322067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7F61-0AF9-50AF-E288-146EE327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718" y="786986"/>
            <a:ext cx="10587182" cy="4094884"/>
          </a:xfrm>
        </p:spPr>
        <p:txBody>
          <a:bodyPr/>
          <a:lstStyle/>
          <a:p>
            <a:pPr marL="114300" indent="0">
              <a:buNone/>
            </a:pPr>
            <a:r>
              <a:rPr lang="th-TH" sz="2000" b="1" dirty="0"/>
              <a:t>ฟีเจอร์เพิ่มเติม</a:t>
            </a:r>
          </a:p>
          <a:p>
            <a:pPr lvl="1"/>
            <a:r>
              <a:rPr lang="en-US" sz="1600" dirty="0"/>
              <a:t>Mobile Application</a:t>
            </a:r>
          </a:p>
          <a:p>
            <a:pPr lvl="1"/>
            <a:r>
              <a:rPr lang="en-US" sz="1600" dirty="0"/>
              <a:t>API Integration</a:t>
            </a:r>
          </a:p>
          <a:p>
            <a:pPr lvl="1"/>
            <a:r>
              <a:rPr lang="en-US" sz="1600" dirty="0"/>
              <a:t>Advanced Analytics</a:t>
            </a:r>
          </a:p>
          <a:p>
            <a:pPr lvl="1"/>
            <a:r>
              <a:rPr lang="en-US" sz="1600" dirty="0"/>
              <a:t>Multi-location Support</a:t>
            </a:r>
          </a:p>
          <a:p>
            <a:endParaRPr lang="en-US" sz="2000" dirty="0"/>
          </a:p>
          <a:p>
            <a:pPr marL="114300" indent="0">
              <a:buNone/>
            </a:pPr>
            <a:r>
              <a:rPr lang="th-TH" sz="2000" b="1" dirty="0"/>
              <a:t>การปรับปรุง</a:t>
            </a:r>
          </a:p>
          <a:p>
            <a:pPr lvl="1"/>
            <a:r>
              <a:rPr lang="en-US" sz="1600" dirty="0"/>
              <a:t>Performance Optimization</a:t>
            </a:r>
          </a:p>
          <a:p>
            <a:pPr lvl="1"/>
            <a:r>
              <a:rPr lang="en-US" sz="1600" dirty="0"/>
              <a:t>Security Enhancement</a:t>
            </a:r>
          </a:p>
          <a:p>
            <a:pPr lvl="1"/>
            <a:r>
              <a:rPr lang="en-US" sz="1600" dirty="0"/>
              <a:t>User Experience Improvement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E57E5-7B28-1CFE-BAAE-A15EB0CC98D1}"/>
              </a:ext>
            </a:extLst>
          </p:cNvPr>
          <p:cNvSpPr txBox="1"/>
          <p:nvPr/>
        </p:nvSpPr>
        <p:spPr>
          <a:xfrm>
            <a:off x="36621" y="0"/>
            <a:ext cx="12155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th-TH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การพัฒนาต่อยอด</a:t>
            </a:r>
          </a:p>
        </p:txBody>
      </p:sp>
    </p:spTree>
    <p:extLst>
      <p:ext uri="{BB962C8B-B14F-4D97-AF65-F5344CB8AC3E}">
        <p14:creationId xmlns:p14="http://schemas.microsoft.com/office/powerpoint/2010/main" val="268095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7F61-0AF9-50AF-E288-146EE327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718" y="786986"/>
            <a:ext cx="10587182" cy="4094884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1" dirty="0"/>
              <a:t>PTG Hackathon Team</a:t>
            </a:r>
          </a:p>
          <a:p>
            <a:pPr lvl="1"/>
            <a:r>
              <a:rPr lang="en-US" sz="1600" dirty="0"/>
              <a:t>System Architecture &amp; Backend Development</a:t>
            </a:r>
          </a:p>
          <a:p>
            <a:pPr lvl="1"/>
            <a:r>
              <a:rPr lang="en-US" sz="1600" dirty="0"/>
              <a:t>Frontend Development &amp; UI/UX</a:t>
            </a:r>
          </a:p>
          <a:p>
            <a:pPr lvl="1"/>
            <a:r>
              <a:rPr lang="en-US" sz="1600" dirty="0"/>
              <a:t>Database Design &amp; Optimization</a:t>
            </a:r>
          </a:p>
          <a:p>
            <a:pPr lvl="1"/>
            <a:r>
              <a:rPr lang="en-US" sz="1600" dirty="0"/>
              <a:t>Testing &amp; Quality Assurance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E57E5-7B28-1CFE-BAAE-A15EB0CC98D1}"/>
              </a:ext>
            </a:extLst>
          </p:cNvPr>
          <p:cNvSpPr txBox="1"/>
          <p:nvPr/>
        </p:nvSpPr>
        <p:spPr>
          <a:xfrm>
            <a:off x="36621" y="0"/>
            <a:ext cx="12155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th-TH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anose="02020603050405020304" pitchFamily="18" charset="-34"/>
                <a:cs typeface="AngsanaUPC" panose="02020603050405020304" pitchFamily="18" charset="-34"/>
              </a:rPr>
              <a:t>ทีมพัฒนา</a:t>
            </a:r>
          </a:p>
        </p:txBody>
      </p:sp>
    </p:spTree>
    <p:extLst>
      <p:ext uri="{BB962C8B-B14F-4D97-AF65-F5344CB8AC3E}">
        <p14:creationId xmlns:p14="http://schemas.microsoft.com/office/powerpoint/2010/main" val="3189214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77F61-0AF9-50AF-E288-146EE327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718" y="786986"/>
            <a:ext cx="10587182" cy="4094884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1" dirty="0" err="1"/>
              <a:t>SupplyUse</a:t>
            </a:r>
            <a:r>
              <a:rPr lang="en-US" sz="2000" b="1" dirty="0"/>
              <a:t> Stock Management System</a:t>
            </a:r>
          </a:p>
          <a:p>
            <a:pPr lvl="1"/>
            <a:r>
              <a:rPr lang="th-TH" sz="1600" dirty="0"/>
              <a:t>เป็นโซลูชันที่ครบครันสำหรับการจัดการสต๊อกสินค้า</a:t>
            </a:r>
          </a:p>
          <a:p>
            <a:endParaRPr lang="th-TH" sz="2000" dirty="0"/>
          </a:p>
          <a:p>
            <a:pPr marL="114300" indent="0">
              <a:buNone/>
            </a:pPr>
            <a:r>
              <a:rPr lang="en-US" sz="2000" b="1" dirty="0"/>
              <a:t>Key Benefits</a:t>
            </a:r>
          </a:p>
          <a:p>
            <a:r>
              <a:rPr lang="en-US" sz="2000" dirty="0"/>
              <a:t>✅ </a:t>
            </a:r>
            <a:r>
              <a:rPr lang="th-TH" sz="2000" dirty="0"/>
              <a:t>ลดต้นทุนการจัดการ</a:t>
            </a:r>
          </a:p>
          <a:p>
            <a:r>
              <a:rPr lang="en-US" sz="2000" dirty="0"/>
              <a:t>✅ </a:t>
            </a:r>
            <a:r>
              <a:rPr lang="th-TH" sz="2000" dirty="0"/>
              <a:t>เพิ่มประสิทธิภาพการทำงาน</a:t>
            </a:r>
          </a:p>
          <a:p>
            <a:r>
              <a:rPr lang="en-US" sz="2000" dirty="0"/>
              <a:t>✅ </a:t>
            </a:r>
            <a:r>
              <a:rPr lang="th-TH" sz="2000" dirty="0"/>
              <a:t>ข้อมูลแม่นยำและทันสมัย</a:t>
            </a:r>
          </a:p>
          <a:p>
            <a:r>
              <a:rPr lang="en-US" sz="2000" dirty="0"/>
              <a:t>✅ </a:t>
            </a:r>
            <a:r>
              <a:rPr lang="th-TH" sz="2000" dirty="0"/>
              <a:t>รองรับการเติบโตของธุรกิจ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E57E5-7B28-1CFE-BAAE-A15EB0CC98D1}"/>
              </a:ext>
            </a:extLst>
          </p:cNvPr>
          <p:cNvSpPr txBox="1"/>
          <p:nvPr/>
        </p:nvSpPr>
        <p:spPr>
          <a:xfrm>
            <a:off x="36621" y="0"/>
            <a:ext cx="12155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th-TH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anose="02020603050405020304" pitchFamily="18" charset="-34"/>
                <a:cs typeface="AngsanaUPC" panose="02020603050405020304" pitchFamily="18" charset="-34"/>
              </a:rPr>
              <a:t>สรุป</a:t>
            </a:r>
          </a:p>
        </p:txBody>
      </p:sp>
    </p:spTree>
    <p:extLst>
      <p:ext uri="{BB962C8B-B14F-4D97-AF65-F5344CB8AC3E}">
        <p14:creationId xmlns:p14="http://schemas.microsoft.com/office/powerpoint/2010/main" val="6782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ctrTitle"/>
          </p:nvPr>
        </p:nvSpPr>
        <p:spPr>
          <a:xfrm>
            <a:off x="96983" y="2054193"/>
            <a:ext cx="5665914" cy="177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rPr lang="en-US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3990</TotalTime>
  <Words>293</Words>
  <Application>Microsoft Office PowerPoint</Application>
  <PresentationFormat>Widescreen</PresentationFormat>
  <Paragraphs>76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AngsanaUPC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 Max Station</dc:title>
  <dc:creator>kratai</dc:creator>
  <cp:lastModifiedBy>piyo khemprasit</cp:lastModifiedBy>
  <cp:revision>582</cp:revision>
  <dcterms:modified xsi:type="dcterms:W3CDTF">2025-11-12T05:29:50Z</dcterms:modified>
</cp:coreProperties>
</file>